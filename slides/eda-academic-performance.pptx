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Exploratory Data Analysis of Academic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Mathematics vs Portuguese (Cortez &amp; Silva, 2008)</a:t>
            </a:r>
            <a:br/>
            <a:br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2026-01-06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1)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Title:</a:t>
            </a:r>
            <a:r>
              <a:rPr/>
              <a:t> Exploratory Data Analysis of Academic Performance</a:t>
            </a:r>
          </a:p>
          <a:p>
            <a:pPr lvl="0"/>
            <a:r>
              <a:rPr b="1"/>
              <a:t>Focus:</a:t>
            </a:r>
            <a:r>
              <a:rPr/>
              <a:t> Mathematics vs Portuguese (two independent student cohorts)</a:t>
            </a:r>
          </a:p>
          <a:p>
            <a:pPr lvl="0"/>
            <a:r>
              <a:rPr b="1"/>
              <a:t>Scope:</a:t>
            </a:r>
            <a:r>
              <a:rPr/>
              <a:t> Descriptive EDA only (no prediction, no causality)</a:t>
            </a:r>
          </a:p>
          <a:p>
            <a:pPr lvl="0" indent="0" marL="0">
              <a:buNone/>
            </a:pPr>
            <a:r>
              <a:rPr b="1"/>
              <a:t>Key message:</a:t>
            </a:r>
            <a:r>
              <a:rPr/>
              <a:t> This talk summarizes exploratory insights on final grades (G3) across two subjects.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Context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Academic performance is multidimensional (school context, behaviors, support, study habits)</a:t>
            </a:r>
          </a:p>
          <a:p>
            <a:pPr lvl="0"/>
            <a:r>
              <a:rPr/>
              <a:t>EDA helps:</a:t>
            </a:r>
          </a:p>
          <a:p>
            <a:pPr lvl="1"/>
            <a:r>
              <a:rPr/>
              <a:t>understand distributions and heterogeneity</a:t>
            </a:r>
          </a:p>
          <a:p>
            <a:pPr lvl="1"/>
            <a:r>
              <a:rPr/>
              <a:t>identify potential descriptive associations</a:t>
            </a:r>
          </a:p>
          <a:p>
            <a:pPr lvl="1"/>
            <a:r>
              <a:rPr/>
              <a:t>guide future (careful) analyses</a:t>
            </a:r>
          </a:p>
          <a:p>
            <a:pPr lvl="0" indent="0" marL="0">
              <a:buNone/>
            </a:pPr>
            <a:r>
              <a:rPr b="1"/>
              <a:t>Key message:</a:t>
            </a:r>
            <a:r>
              <a:rPr/>
              <a:t> EDA provides a structured “map” of the data before any modeling decisions.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3) 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Source: </a:t>
            </a:r>
            <a:r>
              <a:rPr b="1"/>
              <a:t>Cortez &amp; Silva (2008)</a:t>
            </a:r>
            <a:r>
              <a:rPr/>
              <a:t> student performance dataset</a:t>
            </a:r>
          </a:p>
          <a:p>
            <a:pPr lvl="0"/>
            <a:r>
              <a:rPr/>
              <a:t>Two datasets (independent):</a:t>
            </a:r>
          </a:p>
          <a:p>
            <a:pPr lvl="1"/>
            <a:r>
              <a:rPr/>
              <a:t>Mathematics: </a:t>
            </a:r>
            <a:r>
              <a:rPr b="1"/>
              <a:t>395 students</a:t>
            </a:r>
          </a:p>
          <a:p>
            <a:pPr lvl="1"/>
            <a:r>
              <a:rPr/>
              <a:t>Portuguese: </a:t>
            </a:r>
            <a:r>
              <a:rPr b="1"/>
              <a:t>649 students</a:t>
            </a:r>
          </a:p>
          <a:p>
            <a:pPr lvl="0"/>
            <a:r>
              <a:rPr/>
              <a:t>Target variable: </a:t>
            </a:r>
            <a:r>
              <a:rPr b="1"/>
              <a:t>Final grade G3</a:t>
            </a:r>
            <a:r>
              <a:rPr/>
              <a:t> (0–20)</a:t>
            </a:r>
          </a:p>
          <a:p>
            <a:pPr lvl="0"/>
            <a:r>
              <a:rPr/>
              <a:t>Variables: demographics, family context, study habits, behaviors, school support</a:t>
            </a:r>
          </a:p>
          <a:p>
            <a:pPr lvl="0" indent="0" marL="0">
              <a:buNone/>
            </a:pPr>
            <a:r>
              <a:rPr b="1"/>
              <a:t>Key message:</a:t>
            </a:r>
            <a:r>
              <a:rPr/>
              <a:t> Two separate cohorts allow comparisons by subject, but not within-student changes.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Methodology (EDA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 preparation:</a:t>
            </a:r>
          </a:p>
          <a:p>
            <a:pPr lvl="1"/>
            <a:r>
              <a:rPr/>
              <a:t>recoding categorical variables, creating descriptive indices (e.g., alcohol index)</a:t>
            </a:r>
          </a:p>
          <a:p>
            <a:pPr lvl="0"/>
            <a:r>
              <a:rPr/>
              <a:t>Descriptive statistics:</a:t>
            </a:r>
          </a:p>
          <a:p>
            <a:pPr lvl="1"/>
            <a:r>
              <a:rPr/>
              <a:t>means/medians, dispersion, pass rates</a:t>
            </a:r>
          </a:p>
          <a:p>
            <a:pPr lvl="0"/>
            <a:r>
              <a:rPr/>
              <a:t>Exploratory association tools:</a:t>
            </a:r>
          </a:p>
          <a:p>
            <a:pPr lvl="1"/>
            <a:r>
              <a:rPr/>
              <a:t>histograms/boxplots/scatterplots</a:t>
            </a:r>
          </a:p>
          <a:p>
            <a:pPr lvl="1"/>
            <a:r>
              <a:rPr b="1"/>
              <a:t>Spearman</a:t>
            </a:r>
            <a:r>
              <a:rPr/>
              <a:t> correlations (robust to non-normality / ordinal variables)</a:t>
            </a:r>
          </a:p>
          <a:p>
            <a:pPr lvl="0"/>
            <a:r>
              <a:rPr/>
              <a:t>Multivariate overview:</a:t>
            </a:r>
          </a:p>
          <a:p>
            <a:pPr lvl="1"/>
            <a:r>
              <a:rPr b="1"/>
              <a:t>PCA</a:t>
            </a:r>
            <a:r>
              <a:rPr/>
              <a:t> on standardized numeric variables</a:t>
            </a:r>
          </a:p>
          <a:p>
            <a:pPr lvl="0" indent="0" marL="0">
              <a:buNone/>
            </a:pPr>
            <a:r>
              <a:rPr b="1"/>
              <a:t>Key message:</a:t>
            </a:r>
            <a:r>
              <a:rPr/>
              <a:t> All results are descriptive; no predictive modeling and no causal claims.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5) Exploratory Hypotheses (Guiding Questions)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H1:</a:t>
            </a:r>
            <a:r>
              <a:rPr/>
              <a:t> G3 distributions differ between Mathematics and Portuguese</a:t>
            </a:r>
          </a:p>
          <a:p>
            <a:pPr lvl="0"/>
            <a:r>
              <a:rPr b="1"/>
              <a:t>H2:</a:t>
            </a:r>
            <a:r>
              <a:rPr/>
              <a:t> Higher absences are descriptively associated with lower G3</a:t>
            </a:r>
          </a:p>
          <a:p>
            <a:pPr lvl="0"/>
            <a:r>
              <a:rPr b="1"/>
              <a:t>H3:</a:t>
            </a:r>
            <a:r>
              <a:rPr/>
              <a:t> Behavioral variables (e.g., alcohol, going out) show descriptive associations with G3</a:t>
            </a:r>
          </a:p>
          <a:p>
            <a:pPr lvl="0"/>
            <a:r>
              <a:rPr b="1"/>
              <a:t>H4:</a:t>
            </a:r>
            <a:r>
              <a:rPr/>
              <a:t> Associations may differ across context (school) and/or sex</a:t>
            </a:r>
          </a:p>
          <a:p>
            <a:pPr lvl="0" indent="0" marL="0">
              <a:buNone/>
            </a:pPr>
            <a:r>
              <a:rPr b="1"/>
              <a:t>Key message:</a:t>
            </a:r>
            <a:r>
              <a:rPr/>
              <a:t> Hypotheses are used as a reading grid, not as confirmatory tests.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6) Demographic Profile (Age &amp; Sex)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Age is concentrated around mid-teen values (typical secondary school range)</a:t>
            </a:r>
          </a:p>
          <a:p>
            <a:pPr lvl="0"/>
            <a:r>
              <a:rPr/>
              <a:t>Sex distribution is broadly comparable across subjects, but differs by cohort</a:t>
            </a:r>
          </a:p>
        </p:txBody>
      </p:sp>
      <p:pic>
        <p:nvPicPr>
          <p:cNvPr descr="../docs/qmd/student-performance-eda_files/figure-html/fig-sex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77900"/>
            <a:ext cx="5105400" cy="283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docs/qmd/student-performance-eda_files/figure-html/fig-ag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4000" y="1193800"/>
            <a:ext cx="610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message:</a:t>
            </a:r>
            <a:r>
              <a:rPr/>
              <a:t> Demographics provide essential context for interpreting grade differences.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7) Distribution of Final Grades (G3)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Compare shape, spread, and central tendency of G3 by subject</a:t>
            </a:r>
          </a:p>
          <a:p>
            <a:pPr lvl="0"/>
            <a:r>
              <a:rPr/>
              <a:t>Look for skewness, ceiling effects, and variability differences</a:t>
            </a:r>
          </a:p>
        </p:txBody>
      </p:sp>
      <p:pic>
        <p:nvPicPr>
          <p:cNvPr descr="../docs/qmd/student-performance-eda_files/figure-html/fig-g3-dis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77900"/>
            <a:ext cx="5105400" cy="283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message:</a:t>
            </a:r>
            <a:r>
              <a:rPr/>
              <a:t> Portuguese shows a higher central tendency and lower dispersion than Mathematics.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8) Quantitative Comparison (Math vs Portuguese)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Summary (G3):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Mean G3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Median G3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Pass rate (G3≥10)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Mathematics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395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10.42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67.1%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Portuguese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11.91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84.6%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Differences (Mathematics − Portuguese):</a:t>
            </a:r>
          </a:p>
          <a:p>
            <a:pPr lvl="1"/>
            <a:r>
              <a:rPr/>
              <a:t>Mean difference: </a:t>
            </a:r>
            <a:r>
              <a:rPr b="1"/>
              <a:t>-1.49</a:t>
            </a:r>
          </a:p>
          <a:p>
            <a:pPr lvl="1"/>
            <a:r>
              <a:rPr/>
              <a:t>Median difference: </a:t>
            </a:r>
            <a:r>
              <a:rPr b="1"/>
              <a:t>-1</a:t>
            </a:r>
          </a:p>
          <a:p>
            <a:pPr lvl="1"/>
            <a:r>
              <a:rPr/>
              <a:t>Effect size (Cohen’s d): </a:t>
            </a:r>
            <a:r>
              <a:rPr b="1"/>
              <a:t>≈ -0.39</a:t>
            </a:r>
          </a:p>
          <a:p>
            <a:pPr lvl="0" indent="0" marL="0">
              <a:buNone/>
            </a:pPr>
            <a:r>
              <a:rPr b="1"/>
              <a:t>Key message:</a:t>
            </a:r>
            <a:r>
              <a:rPr/>
              <a:t> The average Portuguese G3 is higher; the standardized difference is small-to-moderate.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9) Variables Most Associated with G3 (Spearman)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Correlation matrix overview:</a:t>
            </a:r>
          </a:p>
        </p:txBody>
      </p:sp>
      <p:pic>
        <p:nvPicPr>
          <p:cNvPr descr="../docs/qmd/student-performance-eda_files/figure-html/fig-corr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77900"/>
            <a:ext cx="5105400" cy="283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Top descriptive associations with G3 (Spearman, approximate):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Spearman rho with G3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failures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-0.41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parent_edu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+0.24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alcohol_index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-0.17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absences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-0.11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Interpretation (descriptive):</a:t>
            </a:r>
          </a:p>
          <a:p>
            <a:pPr lvl="1"/>
            <a:r>
              <a:rPr/>
              <a:t>Negative rho → higher values tend to coincide with lower G3</a:t>
            </a:r>
          </a:p>
          <a:p>
            <a:pPr lvl="1"/>
            <a:r>
              <a:rPr/>
              <a:t>Positive rho → higher values tend to coincide with higher G3</a:t>
            </a:r>
          </a:p>
          <a:p>
            <a:pPr lvl="0" indent="0" marL="0">
              <a:buNone/>
            </a:pPr>
            <a:r>
              <a:rPr b="1"/>
              <a:t>Key message:</a:t>
            </a:r>
            <a:r>
              <a:rPr/>
              <a:t> Prior failures and parental education show strong descriptive links with final grades.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10) Focus Example: Alcohol vs Performance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Exploratory question: does alcohol consumption co-vary with G3?</a:t>
            </a:r>
          </a:p>
          <a:p>
            <a:pPr lvl="0"/>
            <a:r>
              <a:rPr/>
              <a:t>Use a simple scatter + smooth trend (no causal interpretation)</a:t>
            </a:r>
          </a:p>
        </p:txBody>
      </p:sp>
      <p:pic>
        <p:nvPicPr>
          <p:cNvPr descr="../docs/qmd/student-performance-eda_files/figure-html/fig-alcohol-g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77900"/>
            <a:ext cx="5105400" cy="283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message:</a:t>
            </a:r>
            <a:r>
              <a:rPr/>
              <a:t> The alcohol–G3 relationship is weak-to-moderate and should be read as descriptive only.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11) Additional Descriptive Focus: Weekday Alcohol &amp; Absences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 b="1"/>
              <a:t>Weekday alcohol consumption (Dalc)</a:t>
            </a:r>
            <a:r>
              <a:rPr/>
              <a:t> is ordinal (1–5) and differs in distribution across cohorts</a:t>
            </a:r>
          </a:p>
          <a:p>
            <a:pPr lvl="0"/>
            <a:r>
              <a:rPr b="1"/>
              <a:t>Study time vs absences</a:t>
            </a:r>
            <a:r>
              <a:rPr/>
              <a:t> helps describe how engagement and attendance co-vary (still descriptive)</a:t>
            </a:r>
          </a:p>
        </p:txBody>
      </p:sp>
      <p:pic>
        <p:nvPicPr>
          <p:cNvPr descr="../docs/qmd/student-performance-eda_files/figure-html/fig-dalc-weekday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77900"/>
            <a:ext cx="5105400" cy="283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../docs/qmd/student-performance-eda_files/figure-html/fig-absences-by-studytim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24000" y="1193800"/>
            <a:ext cx="6108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message:</a:t>
            </a:r>
            <a:r>
              <a:rPr/>
              <a:t> Attendance patterns and weekday alcohol levels provide concrete descriptive contrasts between subjects.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12) Discussion &amp; Methodological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Two </a:t>
            </a:r>
            <a:r>
              <a:rPr b="1"/>
              <a:t>independent cohorts</a:t>
            </a:r>
            <a:r>
              <a:rPr/>
              <a:t> (Math vs Portuguese): comparisons are between groups</a:t>
            </a:r>
          </a:p>
          <a:p>
            <a:pPr lvl="0"/>
            <a:r>
              <a:rPr/>
              <a:t>Many variables are ordinal; numeric conversions are for exploration only</a:t>
            </a:r>
          </a:p>
          <a:p>
            <a:pPr lvl="0"/>
            <a:r>
              <a:rPr/>
              <a:t>Correlations and trends:</a:t>
            </a:r>
          </a:p>
          <a:p>
            <a:pPr lvl="1"/>
            <a:r>
              <a:rPr/>
              <a:t>can be sensitive to confounding and non-linearities</a:t>
            </a:r>
          </a:p>
          <a:p>
            <a:pPr lvl="1"/>
            <a:r>
              <a:rPr/>
              <a:t>should not be interpreted as causal effects</a:t>
            </a:r>
          </a:p>
          <a:p>
            <a:pPr lvl="0"/>
            <a:r>
              <a:rPr/>
              <a:t>Multiple comparisons: treat p-values (if shown) as exploratory</a:t>
            </a:r>
          </a:p>
          <a:p>
            <a:pPr lvl="0" indent="0" marL="0">
              <a:buNone/>
            </a:pPr>
            <a:r>
              <a:rPr b="1"/>
              <a:t>Key message:</a:t>
            </a:r>
            <a:r>
              <a:rPr/>
              <a:t> The analysis highlights patterns, but does not establish causes.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13) Conclusion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Portuguese shows higher G3 central tendency and pass rate than Mathematics</a:t>
            </a:r>
          </a:p>
          <a:p>
            <a:pPr lvl="0"/>
            <a:r>
              <a:rPr/>
              <a:t>Strongest descriptive associations with G3 include:</a:t>
            </a:r>
          </a:p>
          <a:p>
            <a:pPr lvl="1"/>
            <a:r>
              <a:rPr/>
              <a:t>prior failures (negative)</a:t>
            </a:r>
          </a:p>
          <a:p>
            <a:pPr lvl="1"/>
            <a:r>
              <a:rPr/>
              <a:t>parental education (positive)</a:t>
            </a:r>
          </a:p>
          <a:p>
            <a:pPr lvl="1"/>
            <a:r>
              <a:rPr/>
              <a:t>some behavioral indicators (weak-to-moderate)</a:t>
            </a:r>
          </a:p>
          <a:p>
            <a:pPr lvl="0"/>
            <a:r>
              <a:rPr/>
              <a:t>Results remain consistent with EDA scope (no modeling, no causality)</a:t>
            </a:r>
          </a:p>
          <a:p>
            <a:pPr lvl="0" indent="0" marL="0">
              <a:buNone/>
            </a:pPr>
            <a:r>
              <a:rPr b="1"/>
              <a:t>Key message:</a:t>
            </a:r>
            <a:r>
              <a:rPr/>
              <a:t> Differences across subjects exist and are interpretable at a descriptive level.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14) Perspectives (Future Exploratory 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Stratified EDA:</a:t>
            </a:r>
          </a:p>
          <a:p>
            <a:pPr lvl="1"/>
            <a:r>
              <a:rPr/>
              <a:t>by school and sex to assess heterogeneity</a:t>
            </a:r>
          </a:p>
          <a:p>
            <a:pPr lvl="0"/>
            <a:r>
              <a:rPr/>
              <a:t>Robustness checks:</a:t>
            </a:r>
          </a:p>
          <a:p>
            <a:pPr lvl="1"/>
            <a:r>
              <a:rPr/>
              <a:t>compare Spearman vs Kendall</a:t>
            </a:r>
          </a:p>
          <a:p>
            <a:pPr lvl="1"/>
            <a:r>
              <a:rPr/>
              <a:t>sensitivity to outliers (winsorization)</a:t>
            </a:r>
          </a:p>
          <a:p>
            <a:pPr lvl="0"/>
            <a:r>
              <a:rPr/>
              <a:t>Missing data:</a:t>
            </a:r>
          </a:p>
          <a:p>
            <a:pPr lvl="1"/>
            <a:r>
              <a:rPr/>
              <a:t>patterns, potential bias in descriptive summaries</a:t>
            </a:r>
          </a:p>
          <a:p>
            <a:pPr lvl="0"/>
            <a:r>
              <a:rPr/>
              <a:t>Optional (still non-ML): richer descriptive visualizations (interaction plots, small multiples)</a:t>
            </a:r>
          </a:p>
          <a:p>
            <a:pPr lvl="0" indent="0" marL="0">
              <a:buNone/>
            </a:pPr>
            <a:r>
              <a:rPr b="1"/>
              <a:t>Key message:</a:t>
            </a:r>
            <a:r>
              <a:rPr/>
              <a:t> Next steps can deepen the descriptive story without moving into prediction or causality.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of Academic Performance</dc:title>
  <dc:creator/>
  <cp:keywords/>
  <dcterms:created xsi:type="dcterms:W3CDTF">2026-01-07T09:24:23Z</dcterms:created>
  <dcterms:modified xsi:type="dcterms:W3CDTF">2026-01-07T09:24:23Z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/>
  </property>
  <property fmtid="{D5CDD505-2E9C-101B-9397-08002B2CF9AE}" pid="5" name="by-author">
    <vt:lpwstr/>
  </property>
  <property fmtid="{D5CDD505-2E9C-101B-9397-08002B2CF9AE}" pid="6" name="csl">
    <vt:lpwstr>../apa.csl</vt:lpwstr>
  </property>
  <property fmtid="{D5CDD505-2E9C-101B-9397-08002B2CF9AE}" pid="7" name="date">
    <vt:lpwstr>2026-01-06</vt:lpwstr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kernel">
    <vt:lpwstr/>
  </property>
  <property fmtid="{D5CDD505-2E9C-101B-9397-08002B2CF9AE}" pid="13" name="labels">
    <vt:lpwstr/>
  </property>
  <property fmtid="{D5CDD505-2E9C-101B-9397-08002B2CF9AE}" pid="14" name="subtitle">
    <vt:lpwstr>Mathematics vs Portuguese (Cortez &amp; Silva, 2008)</vt:lpwstr>
  </property>
  <property fmtid="{D5CDD505-2E9C-101B-9397-08002B2CF9AE}" pid="15" name="toc-title">
    <vt:lpwstr>Table of contents</vt:lpwstr>
  </property>
  <property fmtid="{D5CDD505-2E9C-101B-9397-08002B2CF9AE}" pid="16" name="webr">
    <vt:lpwstr/>
  </property>
</Properties>
</file>